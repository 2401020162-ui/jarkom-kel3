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0" autoAdjust="0"/>
    <p:restoredTop sz="85045" autoAdjust="0"/>
  </p:normalViewPr>
  <p:slideViewPr>
    <p:cSldViewPr snapToGrid="0" snapToObjects="1">
      <p:cViewPr varScale="1">
        <p:scale>
          <a:sx n="95" d="100"/>
          <a:sy n="95" d="100"/>
        </p:scale>
        <p:origin x="5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05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E6BA8">
              <a:alpha val="22000"/>
            </a:srgbClr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PROJECT BASED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Monitoring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Jaringan Berbasis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Zabbix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8221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Komputer &amp; Komunikasi Data — UMRAH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159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0D2545"/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1596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Salsadilla Frisca Anjani  •  Christine Simbolon  •  Nabiilah Rifa Musyifa  •  Munfarida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Informatika — Fakultas Teknik &amp; Teknologi Kemaritiman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PENDAHULUAN</a:t>
            </a:r>
            <a:endParaRPr lang="en-US" sz="2200" dirty="0"/>
          </a:p>
        </p:txBody>
      </p:sp>
      <p:grpSp>
        <p:nvGrpSpPr>
          <p:cNvPr id="9" name="Group 8"/>
          <p:cNvGrpSpPr/>
          <p:nvPr/>
        </p:nvGrpSpPr>
        <p:grpSpPr>
          <a:xfrm>
            <a:off x="457200" y="781050"/>
            <a:ext cx="8864600" cy="4362450"/>
            <a:chOff x="457200" y="781050"/>
            <a:chExt cx="8864600" cy="4362450"/>
          </a:xfrm>
        </p:grpSpPr>
        <p:sp>
          <p:nvSpPr>
            <p:cNvPr id="4" name="Text 2"/>
            <p:cNvSpPr/>
            <p:nvPr/>
          </p:nvSpPr>
          <p:spPr>
            <a:xfrm>
              <a:off x="457200" y="781050"/>
              <a:ext cx="5029200" cy="152781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0A162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Latar Belakang</a:t>
              </a:r>
              <a:endParaRPr lang="en-US" sz="3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57200" y="850900"/>
              <a:ext cx="8864600" cy="4292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spcAft>
                  <a:spcPts val="1000"/>
                </a:spcAft>
                <a:buNone/>
              </a:pPr>
              <a:r>
                <a:rPr lang="en-US" sz="1600" b="1" dirty="0">
                  <a:solidFill>
                    <a:srgbClr val="00B4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r>
                <a:rPr lang="en-US" sz="16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Jaringan komputer merupakan tulang punggung operasional organisasi modern.</a:t>
              </a:r>
              <a:endParaRPr lang="en-US" sz="1600" dirty="0"/>
            </a:p>
            <a:p>
              <a:pPr marL="0" indent="0">
                <a:spcAft>
                  <a:spcPts val="1000"/>
                </a:spcAft>
                <a:buNone/>
              </a:pPr>
              <a:r>
                <a:rPr lang="en-US" sz="1600" b="1" dirty="0">
                  <a:solidFill>
                    <a:srgbClr val="00B4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r>
                <a:rPr lang="en-US" sz="16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Gangguan jaringan — perangkat mati, koneksi putus, lonjakan trafik — dapat menghambat produktivitas.</a:t>
              </a:r>
              <a:endParaRPr lang="en-US" sz="1600" dirty="0"/>
            </a:p>
            <a:p>
              <a:pPr marL="0" indent="0">
                <a:spcAft>
                  <a:spcPts val="1000"/>
                </a:spcAft>
                <a:buNone/>
              </a:pPr>
              <a:r>
                <a:rPr lang="en-US" sz="1600" b="1" dirty="0">
                  <a:solidFill>
                    <a:srgbClr val="00B4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r>
                <a:rPr lang="en-US" sz="16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Administrator membutuhkan sistem pemantauan terpusat yang mudah dipahami.</a:t>
              </a:r>
              <a:endParaRPr lang="en-US" sz="1600" dirty="0"/>
            </a:p>
            <a:p>
              <a:pPr marL="0" indent="0">
                <a:spcAft>
                  <a:spcPts val="1000"/>
                </a:spcAft>
                <a:buNone/>
              </a:pPr>
              <a:r>
                <a:rPr lang="en-US" sz="1600" b="1" dirty="0">
                  <a:solidFill>
                    <a:srgbClr val="00B4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r>
                <a:rPr lang="en-US" sz="16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Zabbix hadir sebagai platform monitoring open-source yang andal untuk memantau host, trafik, dan resource</a:t>
              </a: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3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5669280" y="1188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06440" y="210312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E6BA8">
              <a:alpha val="18000"/>
            </a:srgbClr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PROYEK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2545"/>
          </a:solidFill>
          <a:ln w="12700">
            <a:solidFill>
              <a:srgbClr val="0E6B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Rancang Topologi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topologi jaringan monitoring yang sesuai berbasis Zabbix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2545"/>
          </a:solidFill>
          <a:ln w="12700">
            <a:solidFill>
              <a:srgbClr val="0E6B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7288" y="166420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95928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Siapkan Simulasi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08483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lingkungan simulasi menggunakan GNS3 dan VirtualBox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2545"/>
          </a:solidFill>
          <a:ln w="12700">
            <a:solidFill>
              <a:srgbClr val="0E6B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166420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76288" y="1664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Zabbix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08483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 Zabbix Appliance sebagai server monitoring terpusat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2545"/>
          </a:solidFill>
          <a:ln w="12700">
            <a:solidFill>
              <a:srgbClr val="0E6B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321868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15568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Dasar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63931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Mengonfigurasi IP address, routing, dan pengujian konektivitas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2545"/>
          </a:solidFill>
          <a:ln w="12700">
            <a:solidFill>
              <a:srgbClr val="0E6B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47288" y="321868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95928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Monitoring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74720" y="363931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dan menampilkan dashboard Zabbix (Progres 3)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D2545"/>
          </a:solidFill>
          <a:ln w="12700">
            <a:solidFill>
              <a:srgbClr val="0E6B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27648" y="321868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76288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SNMP &amp; 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363931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Mengaktifkan SNMP pada MikroTik dan Zabbix Agent pada client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TOPOLOGI </a:t>
            </a: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JARINGAN GNS3 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0" y="10515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Router-Main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10.10.12.2/30 | SNMP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08960" y="2057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| LAN A · LAN B · Mgmt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17627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Server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192.168.1.2 — SW-Mgmt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2468880"/>
            <a:ext cx="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2432304"/>
            <a:ext cx="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897" y="1344294"/>
            <a:ext cx="4461383" cy="3410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PERANGKAT &amp; PERANGKAT LUNAK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Perangkat Keras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63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Laptop/PC Host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379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i5, RAM ≥8 GB, Storage ≥50 GB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86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VM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Server ≥2 GB, Node lain ≥512 MB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209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koneksi lokal/internet saat instalasi paket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3931920" cy="713232"/>
          </a:xfrm>
          <a:prstGeom prst="roundRect">
            <a:avLst>
              <a:gd name="adj" fmla="val 8974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Tambahan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306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 GB untuk project GNS3 &amp; image VM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Perangkat Lunak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GNS3 2.2.x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801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topologi jaringan virtual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176272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221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Ubuntu Server 22.04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468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untuk Zabbix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843784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8895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Zabbix 7.x (Appliance)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136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monitoring utama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511296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557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VirtualBox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803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Zabbix Appliance VM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178808"/>
            <a:ext cx="4023360" cy="566928"/>
          </a:xfrm>
          <a:prstGeom prst="roundRect">
            <a:avLst>
              <a:gd name="adj" fmla="val 11290"/>
            </a:avLst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MikroTik CHR 7.22.1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4714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virtual di GNS3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0E6BA8">
              <a:alpha val="15000"/>
            </a:srgbClr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</a:t>
            </a: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GNS3 &amp; VIRTUALBOX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Simulasi Jaringan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0D2545"/>
          </a:solidFill>
          <a:ln w="19050">
            <a:solidFill>
              <a:srgbClr val="0E6B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0E6BA8"/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GNS3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04825"/>
            <a:ext cx="3611880" cy="4158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project baru di GNS3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node: VPCS, Ethernet Switch, MikroTik CHR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perangkat sesuai rancangan topologi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Hubungkan perangkat via virtual kabel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0D2545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41732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VirtualBox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777240"/>
            <a:ext cx="361188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Zabbix Appliance 7.4.11 (.ovf)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ke VirtualBox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adapter dari NAT → bridged/host-only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VM powered off sebelum masuk GNS3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VM ke GNS3 via Preferences &gt; VirtualBox VMs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—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MIKROTIK CHR 7.22.1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023360" cy="3858768"/>
          </a:xfrm>
          <a:prstGeom prst="roundRect">
            <a:avLst>
              <a:gd name="adj" fmla="val 2844"/>
            </a:avLst>
          </a:prstGeom>
          <a:solidFill>
            <a:srgbClr val="0A1628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IP Address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28216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19072"/>
            <a:ext cx="34381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[admin@MikroTik] &gt; </a:t>
            </a: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address add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 smtClean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address=192.168.42.109/24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interface=ether2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[admin@MikroTik] &gt; </a:t>
            </a: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address print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12724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Status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ether2 → STATUS: RUNNING (Flag R)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ether1, ether3–8 → belum digunakan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 (loopback) → 00:00:00:00:00:00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078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IP Address Progres 2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54480"/>
          <a:ext cx="420624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09728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Perangkat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MikroTik CHR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(ether2)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(VPCS)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192.168.10.2/24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Zabbix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(Progres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1554480"/>
            <a:ext cx="4206240" cy="45720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0936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011680"/>
            <a:ext cx="4206240" cy="457200"/>
          </a:xfrm>
          <a:prstGeom prst="rect">
            <a:avLst/>
          </a:prstGeom>
          <a:solidFill>
            <a:srgbClr val="F0F8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MikroTik CHR (ether2)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0936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smtClean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192.168.42.109/24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7240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24688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(VPCS)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0936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192.168.10.2/24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2926080"/>
            <a:ext cx="4206240" cy="457200"/>
          </a:xfrm>
          <a:prstGeom prst="rect">
            <a:avLst/>
          </a:prstGeom>
          <a:solidFill>
            <a:srgbClr val="F0F8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2926080"/>
            <a:ext cx="1600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Appliance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30936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smtClean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192.168.10.200/24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77240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663440" y="3456432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Ping PC1 → MikroTik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00600" y="385876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PC1&gt; ping 192.168.10.1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 bytes from 192.168.10.1 seq=1 ttl=64 time=10.241 ms  ✓
84 bytes from 192.168.10.1 seq=2 ttl=64 time=3.323 ms   ✓
</a:t>
            </a: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5/5 packets — 0% packet loss  ✓  RTT: 2.1–10.2 ms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1775" y="3357372"/>
            <a:ext cx="2743200" cy="27432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—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ZABBIX APPLIANCE 7.4.11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Server Monitoring yang Diintegrasikan ke Topologi GNS3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grpSp>
        <p:nvGrpSpPr>
          <p:cNvPr id="21" name="Group 20"/>
          <p:cNvGrpSpPr/>
          <p:nvPr/>
        </p:nvGrpSpPr>
        <p:grpSpPr>
          <a:xfrm>
            <a:off x="400050" y="1320546"/>
            <a:ext cx="8229600" cy="1417320"/>
            <a:chOff x="365760" y="1828800"/>
            <a:chExt cx="8229600" cy="1417320"/>
          </a:xfrm>
        </p:grpSpPr>
        <p:sp>
          <p:nvSpPr>
            <p:cNvPr id="7" name="Shape 5"/>
            <p:cNvSpPr/>
            <p:nvPr/>
          </p:nvSpPr>
          <p:spPr>
            <a:xfrm>
              <a:off x="365760" y="1828800"/>
              <a:ext cx="1920240" cy="1417320"/>
            </a:xfrm>
            <a:prstGeom prst="roundRect">
              <a:avLst>
                <a:gd name="adj" fmla="val 6452"/>
              </a:avLst>
            </a:prstGeom>
            <a:solidFill>
              <a:srgbClr val="0D2545"/>
            </a:solidFill>
            <a:ln w="12700">
              <a:solidFill>
                <a:srgbClr val="00B4D8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2468880" y="1828800"/>
              <a:ext cx="1920240" cy="1417320"/>
            </a:xfrm>
            <a:prstGeom prst="roundRect">
              <a:avLst>
                <a:gd name="adj" fmla="val 6452"/>
              </a:avLst>
            </a:prstGeom>
            <a:solidFill>
              <a:srgbClr val="0D2545"/>
            </a:solidFill>
            <a:ln w="12700">
              <a:solidFill>
                <a:srgbClr val="00B4D8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4572000" y="1828800"/>
              <a:ext cx="1920240" cy="1417320"/>
            </a:xfrm>
            <a:prstGeom prst="roundRect">
              <a:avLst>
                <a:gd name="adj" fmla="val 6452"/>
              </a:avLst>
            </a:prstGeom>
            <a:solidFill>
              <a:srgbClr val="0D2545"/>
            </a:solidFill>
            <a:ln w="12700">
              <a:solidFill>
                <a:srgbClr val="F59E0B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6675120" y="1828800"/>
              <a:ext cx="1920240" cy="1417320"/>
            </a:xfrm>
            <a:prstGeom prst="roundRect">
              <a:avLst>
                <a:gd name="adj" fmla="val 6452"/>
              </a:avLst>
            </a:prstGeom>
            <a:solidFill>
              <a:srgbClr val="0D2545"/>
            </a:solidFill>
            <a:ln w="12700">
              <a:solidFill>
                <a:srgbClr val="6B728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8000"/>
                </a:srgbClr>
              </a:outerShdw>
            </a:effectLst>
          </p:spPr>
        </p:sp>
      </p:grpSp>
      <p:grpSp>
        <p:nvGrpSpPr>
          <p:cNvPr id="22" name="Group 21"/>
          <p:cNvGrpSpPr/>
          <p:nvPr/>
        </p:nvGrpSpPr>
        <p:grpSpPr>
          <a:xfrm>
            <a:off x="457200" y="1439418"/>
            <a:ext cx="8046720" cy="1234440"/>
            <a:chOff x="457200" y="1901952"/>
            <a:chExt cx="8046720" cy="1234440"/>
          </a:xfrm>
        </p:grpSpPr>
        <p:sp>
          <p:nvSpPr>
            <p:cNvPr id="8" name="Text 6"/>
            <p:cNvSpPr/>
            <p:nvPr/>
          </p:nvSpPr>
          <p:spPr>
            <a:xfrm>
              <a:off x="457200" y="1901952"/>
              <a:ext cx="1737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Versi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2267712"/>
              <a:ext cx="173736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Zabbix 7.4.11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(Open Appliance)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560320" y="1901952"/>
              <a:ext cx="1737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B4D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Format Import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560320" y="2267712"/>
              <a:ext cx="173736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Virtualization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Format (.ovf)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663440" y="1901952"/>
              <a:ext cx="1737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59E0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IP 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663440" y="2267712"/>
              <a:ext cx="173736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 smtClean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192.168.10.200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(Progres 3)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766560" y="1901952"/>
              <a:ext cx="17373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0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Akses Console</a:t>
              </a:r>
              <a:endParaRPr lang="en-US" sz="1000" dirty="0">
                <a:solidFill>
                  <a:srgbClr val="FFFF00"/>
                </a:solidFill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766560" y="2267712"/>
              <a:ext cx="173736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 smtClean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Sudah tersedia</a:t>
              </a:r>
              <a:endParaRPr lang="en-US" sz="11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457200" y="2457450"/>
            <a:ext cx="8229600" cy="998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</a:t>
            </a: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631948"/>
            <a:ext cx="8321040" cy="2360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IP address node Zabbix Appliance (</a:t>
            </a:r>
            <a:r>
              <a:rPr lang="en-US" sz="1100" dirty="0" smtClean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192.168.10.200/24)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antarmuka web Zabbix dapat diakses dari browser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host MikroTik CHR dan PC1 ke Zabbix Server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&amp; uji SNMP pada MikroTik untuk monitoring trafik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Zabbix Agent pada client (monitoring CPU &amp; memori)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dashboard monitoring Zabbix sesuai target Progres 3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00B4D8"/>
                </a:solidFill>
                <a:latin typeface="Cambria" pitchFamily="34" charset="0"/>
                <a:ea typeface="Cambria" pitchFamily="34" charset="-122"/>
              </a:rPr>
              <a:t>09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384048" cy="38404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508760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 simulasi awal berhasil dibangun di GNS3 — PC1, Switch1, MikroTik CHR, dan Zabbix Appliance telah terhubung.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67712"/>
            <a:ext cx="384048" cy="38404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194560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IP address MikroTik (ether2: 192.168.10.1/24) dan PC1 (192.168.10.2/24) berhasil diterapkan.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880360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ping berhasil: 5/5 paket diterima dengan 0% packet loss, RTT 2.1–10.2 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39312"/>
            <a:ext cx="384048" cy="38404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3566160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 teknis (KVM error, adapter VirtualBox) berhasil diidentifikasi dan diselesaikan.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25112"/>
            <a:ext cx="384048" cy="384048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4251960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3: Konfigurasi Zabbix Appliance, dashboard monitoring, SNMP, dan Zabbix Agent pada client.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686</Words>
  <Application>Microsoft Office PowerPoint</Application>
  <PresentationFormat>On-screen Show (16:9)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Monitoring Jaringan Berbasis Zabbix</dc:title>
  <dc:subject>PptxGenJS Presentation</dc:subject>
  <dc:creator>PptxGenJS</dc:creator>
  <cp:lastModifiedBy>ADVAN</cp:lastModifiedBy>
  <cp:revision>7</cp:revision>
  <dcterms:created xsi:type="dcterms:W3CDTF">2026-06-27T04:22:03Z</dcterms:created>
  <dcterms:modified xsi:type="dcterms:W3CDTF">2026-06-27T07:07:22Z</dcterms:modified>
</cp:coreProperties>
</file>